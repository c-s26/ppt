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embeddedFontLst>
    <p:embeddedFont>
      <p:font typeface="Play" panose="020B0604020202020204" charset="0"/>
      <p:regular r:id="rId8"/>
      <p:bold r:id="rId9"/>
    </p:embeddedFont>
    <p:embeddedFont>
      <p:font typeface="Quattrocento Sans" panose="020B0502050000020003" pitchFamily="3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jN2AakyKSkepCmGsDp2E1g049b1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0" Type="http://schemas.openxmlformats.org/officeDocument/2006/relationships/font" Target="fonts/font3.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
        <p:cNvGrpSpPr/>
        <p:nvPr/>
      </p:nvGrpSpPr>
      <p:grpSpPr>
        <a:xfrm>
          <a:off x="0" y="0"/>
          <a:ext cx="0" cy="0"/>
          <a:chOff x="0" y="0"/>
          <a:chExt cx="0" cy="0"/>
        </a:xfrm>
      </p:grpSpPr>
      <p:sp>
        <p:nvSpPr>
          <p:cNvPr id="12" name="Google Shape;12;p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a:spLocks noGrp="1"/>
          </p:cNvSpPr>
          <p:nvPr>
            <p:ph type="pic" idx="2"/>
          </p:nvPr>
        </p:nvSpPr>
        <p:spPr>
          <a:xfrm>
            <a:off x="5183188" y="987425"/>
            <a:ext cx="6172200" cy="4873625"/>
          </a:xfrm>
          <a:prstGeom prst="rect">
            <a:avLst/>
          </a:prstGeom>
          <a:noFill/>
          <a:ln>
            <a:noFill/>
          </a:ln>
        </p:spPr>
      </p:sp>
      <p:sp>
        <p:nvSpPr>
          <p:cNvPr id="14" name="Google Shape;14;p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 name="Google Shape;15;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8" name="Google Shape;3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272622" y="847699"/>
            <a:ext cx="5048418"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dirty="0">
                <a:solidFill>
                  <a:schemeClr val="dk1"/>
                </a:solidFill>
                <a:latin typeface="Arial"/>
                <a:ea typeface="Arial"/>
                <a:cs typeface="Arial"/>
                <a:sym typeface="Arial"/>
              </a:rPr>
              <a:t>Problem Statement</a:t>
            </a:r>
            <a:endParaRPr sz="2000" b="1" dirty="0"/>
          </a:p>
        </p:txBody>
      </p:sp>
      <p:pic>
        <p:nvPicPr>
          <p:cNvPr id="85" name="Google Shape;85;p1" descr="A close-up of a logo&#10;&#10;AI-generated content may be incorrect."/>
          <p:cNvPicPr preferRelativeResize="0"/>
          <p:nvPr/>
        </p:nvPicPr>
        <p:blipFill rotWithShape="1">
          <a:blip r:embed="rId3">
            <a:alphaModFix/>
          </a:blip>
          <a:srcRect/>
          <a:stretch/>
        </p:blipFill>
        <p:spPr>
          <a:xfrm>
            <a:off x="10764981" y="6321373"/>
            <a:ext cx="1295682" cy="536627"/>
          </a:xfrm>
          <a:prstGeom prst="rect">
            <a:avLst/>
          </a:prstGeom>
          <a:noFill/>
          <a:ln>
            <a:noFill/>
          </a:ln>
        </p:spPr>
      </p:pic>
      <p:pic>
        <p:nvPicPr>
          <p:cNvPr id="86" name="Google Shape;86;p1"/>
          <p:cNvPicPr preferRelativeResize="0"/>
          <p:nvPr/>
        </p:nvPicPr>
        <p:blipFill rotWithShape="1">
          <a:blip r:embed="rId4">
            <a:alphaModFix/>
          </a:blip>
          <a:srcRect/>
          <a:stretch/>
        </p:blipFill>
        <p:spPr>
          <a:xfrm>
            <a:off x="8582891" y="6396112"/>
            <a:ext cx="1214582" cy="387148"/>
          </a:xfrm>
          <a:prstGeom prst="rect">
            <a:avLst/>
          </a:prstGeom>
          <a:noFill/>
          <a:ln>
            <a:noFill/>
          </a:ln>
        </p:spPr>
      </p:pic>
      <p:sp>
        <p:nvSpPr>
          <p:cNvPr id="87" name="Google Shape;87;p1"/>
          <p:cNvSpPr txBox="1">
            <a:spLocks noGrp="1"/>
          </p:cNvSpPr>
          <p:nvPr>
            <p:ph type="title"/>
          </p:nvPr>
        </p:nvSpPr>
        <p:spPr>
          <a:xfrm>
            <a:off x="530730" y="4973064"/>
            <a:ext cx="11130540" cy="775647"/>
          </a:xfrm>
          <a:prstGeom prst="rect">
            <a:avLst/>
          </a:prstGeom>
          <a:noFill/>
          <a:ln>
            <a:noFill/>
          </a:ln>
        </p:spPr>
        <p:txBody>
          <a:bodyPr spcFirstLastPara="1" wrap="square" lIns="91425" tIns="45700" rIns="91425" bIns="45700" anchor="b" anchorCtr="0">
            <a:normAutofit fontScale="90000"/>
          </a:bodyPr>
          <a:lstStyle/>
          <a:p>
            <a:pPr>
              <a:buSzPts val="4800"/>
            </a:pPr>
            <a:r>
              <a:rPr lang="en-US" dirty="0"/>
              <a:t>Citizens depend heavily on government portals for services such as land records, healthcare, and tax filings. Yet, at crucial times, they often face repeated </a:t>
            </a:r>
            <a:r>
              <a:rPr lang="en-US" b="1" dirty="0"/>
              <a:t>“server down”</a:t>
            </a:r>
            <a:r>
              <a:rPr lang="en-US" dirty="0"/>
              <a:t> or </a:t>
            </a:r>
            <a:r>
              <a:rPr lang="en-US" b="1" dirty="0"/>
              <a:t>“try later”</a:t>
            </a:r>
            <a:r>
              <a:rPr lang="en-US" dirty="0"/>
              <a:t> errors. While some outages are genuine, others create suspicion of misuse to delay or deny access. This uncertainty erodes </a:t>
            </a:r>
            <a:r>
              <a:rPr lang="en-US" b="1" dirty="0"/>
              <a:t>public trust</a:t>
            </a:r>
            <a:r>
              <a:rPr lang="en-US" dirty="0"/>
              <a:t> and disproportionately affects vulnerable groups who rely most on timely digital services. There is a strong need for a </a:t>
            </a:r>
            <a:r>
              <a:rPr lang="en-US" b="1" dirty="0"/>
              <a:t>transparent system</a:t>
            </a:r>
            <a:r>
              <a:rPr lang="en-US" dirty="0"/>
              <a:t> to monitor outages, distinguish real failures from suspicious ones, and restore </a:t>
            </a:r>
            <a:r>
              <a:rPr lang="en-US" b="1" dirty="0"/>
              <a:t>confidence in digital governance</a:t>
            </a:r>
            <a:r>
              <a:rPr lang="en-US" dirty="0"/>
              <a:t>.</a:t>
            </a:r>
            <a:br>
              <a:rPr lang="en-US" dirty="0"/>
            </a:b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3" name="Google Shape;93;p2" descr="A close-up of a logo&#10;&#10;AI-generated content may be incorrect."/>
          <p:cNvPicPr preferRelativeResize="0"/>
          <p:nvPr/>
        </p:nvPicPr>
        <p:blipFill rotWithShape="1">
          <a:blip r:embed="rId3">
            <a:alphaModFix/>
          </a:blip>
          <a:srcRect/>
          <a:stretch/>
        </p:blipFill>
        <p:spPr>
          <a:xfrm>
            <a:off x="10764981" y="6321373"/>
            <a:ext cx="1295682" cy="536627"/>
          </a:xfrm>
          <a:prstGeom prst="rect">
            <a:avLst/>
          </a:prstGeom>
          <a:noFill/>
          <a:ln>
            <a:noFill/>
          </a:ln>
        </p:spPr>
      </p:pic>
      <p:pic>
        <p:nvPicPr>
          <p:cNvPr id="94" name="Google Shape;94;p2"/>
          <p:cNvPicPr preferRelativeResize="0"/>
          <p:nvPr/>
        </p:nvPicPr>
        <p:blipFill rotWithShape="1">
          <a:blip r:embed="rId4">
            <a:alphaModFix/>
          </a:blip>
          <a:srcRect/>
          <a:stretch/>
        </p:blipFill>
        <p:spPr>
          <a:xfrm>
            <a:off x="8582891" y="6396112"/>
            <a:ext cx="1214582" cy="387148"/>
          </a:xfrm>
          <a:prstGeom prst="rect">
            <a:avLst/>
          </a:prstGeom>
          <a:noFill/>
          <a:ln>
            <a:noFill/>
          </a:ln>
        </p:spPr>
      </p:pic>
      <p:sp>
        <p:nvSpPr>
          <p:cNvPr id="95" name="Google Shape;95;p2"/>
          <p:cNvSpPr txBox="1">
            <a:spLocks noGrp="1"/>
          </p:cNvSpPr>
          <p:nvPr>
            <p:ph type="title"/>
          </p:nvPr>
        </p:nvSpPr>
        <p:spPr>
          <a:xfrm>
            <a:off x="838200" y="1230085"/>
            <a:ext cx="10515600" cy="4506685"/>
          </a:xfrm>
          <a:prstGeom prst="rect">
            <a:avLst/>
          </a:prstGeom>
          <a:noFill/>
          <a:ln>
            <a:noFill/>
          </a:ln>
        </p:spPr>
        <p:txBody>
          <a:bodyPr spcFirstLastPara="1" wrap="square" lIns="91425" tIns="45700" rIns="91425" bIns="45700" anchor="ctr" anchorCtr="0">
            <a:normAutofit fontScale="90000"/>
          </a:bodyPr>
          <a:lstStyle/>
          <a:p>
            <a:r>
              <a:rPr lang="en-US" sz="3600" b="1" i="0" dirty="0">
                <a:solidFill>
                  <a:srgbClr val="000000"/>
                </a:solidFill>
                <a:latin typeface="Quattrocento Sans"/>
                <a:ea typeface="Quattrocento Sans"/>
                <a:cs typeface="Quattrocento Sans"/>
                <a:sym typeface="Quattrocento Sans"/>
              </a:rPr>
              <a:t>Expected Solutions:</a:t>
            </a:r>
            <a:br>
              <a:rPr lang="en-US" sz="3600" b="0" i="0" dirty="0">
                <a:solidFill>
                  <a:srgbClr val="020817"/>
                </a:solidFill>
                <a:latin typeface="Quattrocento Sans"/>
                <a:ea typeface="Quattrocento Sans"/>
                <a:cs typeface="Quattrocento Sans"/>
                <a:sym typeface="Quattrocento Sans"/>
              </a:rPr>
            </a:br>
            <a:r>
              <a:rPr lang="en-US" sz="3600" b="0" i="0" dirty="0">
                <a:solidFill>
                  <a:srgbClr val="020817"/>
                </a:solidFill>
                <a:latin typeface="Arial"/>
                <a:ea typeface="Arial"/>
                <a:cs typeface="Arial"/>
                <a:sym typeface="Arial"/>
              </a:rPr>
              <a:t>•</a:t>
            </a:r>
            <a:r>
              <a:rPr lang="en-US" sz="2700" b="1" i="0" dirty="0">
                <a:solidFill>
                  <a:srgbClr val="020817"/>
                </a:solidFill>
                <a:latin typeface="Arial"/>
                <a:ea typeface="Arial"/>
                <a:cs typeface="Arial"/>
                <a:sym typeface="Arial"/>
              </a:rPr>
              <a:t>A</a:t>
            </a:r>
            <a:r>
              <a:rPr lang="en-US" sz="2700" b="1" dirty="0"/>
              <a:t>I-based Service Blackout Detector</a:t>
            </a:r>
            <a:r>
              <a:rPr lang="en-US" sz="2700" dirty="0"/>
              <a:t> for transparent monitoring of government portals</a:t>
            </a:r>
            <a:br>
              <a:rPr lang="en-US" sz="2700" dirty="0"/>
            </a:br>
            <a:r>
              <a:rPr lang="en-US" sz="2700" dirty="0"/>
              <a:t>Continuously tracks uptime, errors, and outage durations</a:t>
            </a:r>
            <a:br>
              <a:rPr lang="en-US" sz="2700" dirty="0"/>
            </a:br>
            <a:r>
              <a:rPr lang="en-US" sz="2700" dirty="0"/>
              <a:t>Uses </a:t>
            </a:r>
            <a:r>
              <a:rPr lang="en-US" sz="2700" b="1" dirty="0"/>
              <a:t>pattern analysis</a:t>
            </a:r>
            <a:r>
              <a:rPr lang="en-US" sz="2700" dirty="0"/>
              <a:t> to distinguish genuine failures (e.g., overload, maintenance) from </a:t>
            </a:r>
            <a:r>
              <a:rPr lang="en-US" sz="2700" b="1" dirty="0"/>
              <a:t>suspicious outages</a:t>
            </a:r>
            <a:r>
              <a:rPr lang="en-US" sz="2700" dirty="0"/>
              <a:t> during critical periods</a:t>
            </a:r>
            <a:br>
              <a:rPr lang="en-US" sz="2700" dirty="0"/>
            </a:br>
            <a:r>
              <a:rPr lang="en-US" sz="2700" b="1" dirty="0"/>
              <a:t>Citizen-facing dashboard</a:t>
            </a:r>
            <a:r>
              <a:rPr lang="en-US" sz="2700" dirty="0"/>
              <a:t> to visualize outages, flag irregularities, and promote accountability</a:t>
            </a:r>
            <a:br>
              <a:rPr lang="en-US" sz="2700" dirty="0"/>
            </a:br>
            <a:r>
              <a:rPr lang="en-US" sz="2700" b="1" dirty="0"/>
              <a:t>Tamper-proof records</a:t>
            </a:r>
            <a:r>
              <a:rPr lang="en-US" sz="2700" dirty="0"/>
              <a:t> (e.g., blockchain) to ensure logs cannot be altered or erased</a:t>
            </a:r>
            <a:br>
              <a:rPr lang="en-US" sz="2700" dirty="0"/>
            </a:br>
            <a:r>
              <a:rPr lang="en-US" sz="2700" dirty="0"/>
              <a:t>Restores </a:t>
            </a:r>
            <a:r>
              <a:rPr lang="en-US" sz="2700" b="1" dirty="0"/>
              <a:t>digital trust</a:t>
            </a:r>
            <a:r>
              <a:rPr lang="en-US" sz="2700" dirty="0"/>
              <a:t> and ensures </a:t>
            </a:r>
            <a:r>
              <a:rPr lang="en-US" sz="2700" b="1" dirty="0"/>
              <a:t>fair, inclusive access</a:t>
            </a:r>
            <a:r>
              <a:rPr lang="en-US" sz="2700" dirty="0"/>
              <a:t> for all citizens</a:t>
            </a:r>
            <a:br>
              <a:rPr lang="en-US" sz="2700" dirty="0"/>
            </a:br>
            <a:endParaRPr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1" name="Google Shape;101;p3" descr="A close-up of a logo&#10;&#10;AI-generated content may be incorrect."/>
          <p:cNvPicPr preferRelativeResize="0"/>
          <p:nvPr/>
        </p:nvPicPr>
        <p:blipFill rotWithShape="1">
          <a:blip r:embed="rId3">
            <a:alphaModFix/>
          </a:blip>
          <a:srcRect/>
          <a:stretch/>
        </p:blipFill>
        <p:spPr>
          <a:xfrm>
            <a:off x="10764981" y="6321373"/>
            <a:ext cx="1295682" cy="536627"/>
          </a:xfrm>
          <a:prstGeom prst="rect">
            <a:avLst/>
          </a:prstGeom>
          <a:noFill/>
          <a:ln>
            <a:noFill/>
          </a:ln>
        </p:spPr>
      </p:pic>
      <p:pic>
        <p:nvPicPr>
          <p:cNvPr id="102" name="Google Shape;102;p3"/>
          <p:cNvPicPr preferRelativeResize="0"/>
          <p:nvPr/>
        </p:nvPicPr>
        <p:blipFill rotWithShape="1">
          <a:blip r:embed="rId4">
            <a:alphaModFix/>
          </a:blip>
          <a:srcRect/>
          <a:stretch/>
        </p:blipFill>
        <p:spPr>
          <a:xfrm>
            <a:off x="8582891" y="6396112"/>
            <a:ext cx="1214582" cy="387148"/>
          </a:xfrm>
          <a:prstGeom prst="rect">
            <a:avLst/>
          </a:prstGeom>
          <a:noFill/>
          <a:ln>
            <a:noFill/>
          </a:ln>
        </p:spPr>
      </p:pic>
      <p:sp>
        <p:nvSpPr>
          <p:cNvPr id="103" name="Google Shape;103;p3"/>
          <p:cNvSpPr txBox="1">
            <a:spLocks noGrp="1"/>
          </p:cNvSpPr>
          <p:nvPr>
            <p:ph type="title"/>
          </p:nvPr>
        </p:nvSpPr>
        <p:spPr>
          <a:xfrm>
            <a:off x="838200" y="365125"/>
            <a:ext cx="10515600" cy="17564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Play"/>
              <a:buNone/>
            </a:pPr>
            <a:br>
              <a:rPr lang="en-US" dirty="0"/>
            </a:br>
            <a:r>
              <a:rPr lang="en-US" dirty="0"/>
              <a:t>Technical Architecture</a:t>
            </a:r>
            <a:br>
              <a:rPr lang="en-US" dirty="0"/>
            </a:br>
            <a:endParaRPr dirty="0"/>
          </a:p>
        </p:txBody>
      </p:sp>
      <p:sp>
        <p:nvSpPr>
          <p:cNvPr id="104" name="Google Shape;104;p3"/>
          <p:cNvSpPr txBox="1">
            <a:spLocks noGrp="1"/>
          </p:cNvSpPr>
          <p:nvPr>
            <p:ph type="body" idx="1"/>
          </p:nvPr>
        </p:nvSpPr>
        <p:spPr>
          <a:xfrm>
            <a:off x="838200" y="2133600"/>
            <a:ext cx="10515600" cy="40433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br>
              <a:rPr lang="en-US" dirty="0"/>
            </a:br>
            <a:endParaRPr dirty="0"/>
          </a:p>
        </p:txBody>
      </p:sp>
      <p:pic>
        <p:nvPicPr>
          <p:cNvPr id="1026" name="Picture 2" descr="PlantUML diagram">
            <a:extLst>
              <a:ext uri="{FF2B5EF4-FFF2-40B4-BE49-F238E27FC236}">
                <a16:creationId xmlns:a16="http://schemas.microsoft.com/office/drawing/2014/main" id="{6A4EA3D3-6365-93DB-1759-244185AC5F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0575" y="981075"/>
            <a:ext cx="2990850" cy="4895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p:nvPr/>
        </p:nvSpPr>
        <p:spPr>
          <a:xfrm>
            <a:off x="2802259" y="724412"/>
            <a:ext cx="6705526" cy="95406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chemeClr val="dk1"/>
                </a:solidFill>
                <a:latin typeface="Arial"/>
                <a:ea typeface="Arial"/>
                <a:cs typeface="Arial"/>
                <a:sym typeface="Arial"/>
              </a:rPr>
              <a:t>How is Microsoft Azure used? (minimum 1 azure service to be used)</a:t>
            </a:r>
            <a:endParaRPr sz="2000" b="1" dirty="0"/>
          </a:p>
        </p:txBody>
      </p:sp>
      <p:pic>
        <p:nvPicPr>
          <p:cNvPr id="110" name="Google Shape;110;p4" descr="A close-up of a logo&#10;&#10;AI-generated content may be incorrect."/>
          <p:cNvPicPr preferRelativeResize="0"/>
          <p:nvPr/>
        </p:nvPicPr>
        <p:blipFill rotWithShape="1">
          <a:blip r:embed="rId3">
            <a:alphaModFix/>
          </a:blip>
          <a:srcRect/>
          <a:stretch/>
        </p:blipFill>
        <p:spPr>
          <a:xfrm>
            <a:off x="10764981" y="6321373"/>
            <a:ext cx="1295682" cy="536627"/>
          </a:xfrm>
          <a:prstGeom prst="rect">
            <a:avLst/>
          </a:prstGeom>
          <a:noFill/>
          <a:ln>
            <a:noFill/>
          </a:ln>
        </p:spPr>
      </p:pic>
      <p:pic>
        <p:nvPicPr>
          <p:cNvPr id="111" name="Google Shape;111;p4"/>
          <p:cNvPicPr preferRelativeResize="0"/>
          <p:nvPr/>
        </p:nvPicPr>
        <p:blipFill rotWithShape="1">
          <a:blip r:embed="rId4">
            <a:alphaModFix/>
          </a:blip>
          <a:srcRect/>
          <a:stretch/>
        </p:blipFill>
        <p:spPr>
          <a:xfrm>
            <a:off x="8582891" y="6396112"/>
            <a:ext cx="1214582" cy="387148"/>
          </a:xfrm>
          <a:prstGeom prst="rect">
            <a:avLst/>
          </a:prstGeom>
          <a:noFill/>
          <a:ln>
            <a:noFill/>
          </a:ln>
        </p:spPr>
      </p:pic>
      <p:sp>
        <p:nvSpPr>
          <p:cNvPr id="112" name="Google Shape;112;p4"/>
          <p:cNvSpPr txBox="1">
            <a:spLocks noGrp="1"/>
          </p:cNvSpPr>
          <p:nvPr>
            <p:ph type="body" idx="1"/>
          </p:nvPr>
        </p:nvSpPr>
        <p:spPr>
          <a:xfrm>
            <a:off x="897222" y="1678479"/>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a:t>.</a:t>
            </a:r>
            <a:endParaRPr/>
          </a:p>
          <a:p>
            <a:pPr marL="0" lvl="0" indent="0" algn="l" rtl="0">
              <a:lnSpc>
                <a:spcPct val="90000"/>
              </a:lnSpc>
              <a:spcBef>
                <a:spcPts val="1000"/>
              </a:spcBef>
              <a:spcAft>
                <a:spcPts val="0"/>
              </a:spcAft>
              <a:buClr>
                <a:schemeClr val="dk1"/>
              </a:buClr>
              <a:buSzPts val="2000"/>
              <a:buNone/>
            </a:pPr>
            <a:endParaRPr sz="2000"/>
          </a:p>
        </p:txBody>
      </p:sp>
      <p:sp>
        <p:nvSpPr>
          <p:cNvPr id="3" name="TextBox 2">
            <a:extLst>
              <a:ext uri="{FF2B5EF4-FFF2-40B4-BE49-F238E27FC236}">
                <a16:creationId xmlns:a16="http://schemas.microsoft.com/office/drawing/2014/main" id="{7D415982-BDDC-799E-2619-8E78F2124265}"/>
              </a:ext>
            </a:extLst>
          </p:cNvPr>
          <p:cNvSpPr txBox="1"/>
          <p:nvPr/>
        </p:nvSpPr>
        <p:spPr>
          <a:xfrm>
            <a:off x="1150374" y="2044774"/>
            <a:ext cx="10387810" cy="2308324"/>
          </a:xfrm>
          <a:prstGeom prst="rect">
            <a:avLst/>
          </a:prstGeom>
          <a:noFill/>
        </p:spPr>
        <p:txBody>
          <a:bodyPr wrap="square">
            <a:spAutoFit/>
          </a:bodyPr>
          <a:lstStyle/>
          <a:p>
            <a:pPr>
              <a:buFont typeface="Arial" panose="020B0604020202020204" pitchFamily="34" charset="0"/>
              <a:buChar char="•"/>
            </a:pPr>
            <a:r>
              <a:rPr lang="en-US" sz="2400" b="1" dirty="0"/>
              <a:t>Azure Monitor</a:t>
            </a:r>
            <a:r>
              <a:rPr lang="en-US" sz="2400" dirty="0"/>
              <a:t> – watches govt portals and tracks downtime in real time</a:t>
            </a:r>
          </a:p>
          <a:p>
            <a:pPr>
              <a:buFont typeface="Arial" panose="020B0604020202020204" pitchFamily="34" charset="0"/>
              <a:buChar char="•"/>
            </a:pPr>
            <a:r>
              <a:rPr lang="en-US" sz="2400" b="1" dirty="0"/>
              <a:t>Azure ML</a:t>
            </a:r>
            <a:r>
              <a:rPr lang="en-US" sz="2400" dirty="0"/>
              <a:t> – spots patterns and flags suspicious outages</a:t>
            </a:r>
          </a:p>
          <a:p>
            <a:pPr>
              <a:buFont typeface="Arial" panose="020B0604020202020204" pitchFamily="34" charset="0"/>
              <a:buChar char="•"/>
            </a:pPr>
            <a:r>
              <a:rPr lang="en-US" sz="2400" b="1" dirty="0"/>
              <a:t>Azure SQL / Cosmos DB</a:t>
            </a:r>
            <a:r>
              <a:rPr lang="en-US" sz="2400" dirty="0"/>
              <a:t> – safely stores outage logs and history</a:t>
            </a:r>
          </a:p>
          <a:p>
            <a:pPr>
              <a:buFont typeface="Arial" panose="020B0604020202020204" pitchFamily="34" charset="0"/>
              <a:buChar char="•"/>
            </a:pPr>
            <a:r>
              <a:rPr lang="en-US" sz="2400" b="1" dirty="0"/>
              <a:t>Immutable Storage / Blockchain Service</a:t>
            </a:r>
            <a:r>
              <a:rPr lang="en-US" sz="2400" dirty="0"/>
              <a:t> – keeps records tamper-proof</a:t>
            </a:r>
          </a:p>
          <a:p>
            <a:pPr>
              <a:buFont typeface="Arial" panose="020B0604020202020204" pitchFamily="34" charset="0"/>
              <a:buChar char="•"/>
            </a:pPr>
            <a:r>
              <a:rPr lang="en-US" sz="2400" b="1" dirty="0"/>
              <a:t>Power BI</a:t>
            </a:r>
            <a:r>
              <a:rPr lang="en-US" sz="2400" dirty="0"/>
              <a:t> – shows outages clearly on a citizen-friendly dashboard</a:t>
            </a:r>
          </a:p>
          <a:p>
            <a:pPr>
              <a:buFont typeface="Arial" panose="020B0604020202020204" pitchFamily="34" charset="0"/>
              <a:buChar char="•"/>
            </a:pPr>
            <a:r>
              <a:rPr lang="en-US" sz="2400" b="1" dirty="0"/>
              <a:t>Azure AD</a:t>
            </a:r>
            <a:r>
              <a:rPr lang="en-US" sz="2400" dirty="0"/>
              <a:t> – secures access for both citizens and administrators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5"/>
          <p:cNvSpPr txBox="1"/>
          <p:nvPr/>
        </p:nvSpPr>
        <p:spPr>
          <a:xfrm>
            <a:off x="221672" y="346364"/>
            <a:ext cx="491076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Tech Diagram, Stack &amp; GitHub Repo Link</a:t>
            </a:r>
            <a:endParaRPr dirty="0"/>
          </a:p>
        </p:txBody>
      </p:sp>
      <p:pic>
        <p:nvPicPr>
          <p:cNvPr id="118" name="Google Shape;118;p5" descr="A close-up of a logo&#10;&#10;AI-generated content may be incorrect."/>
          <p:cNvPicPr preferRelativeResize="0"/>
          <p:nvPr/>
        </p:nvPicPr>
        <p:blipFill rotWithShape="1">
          <a:blip r:embed="rId3">
            <a:alphaModFix/>
          </a:blip>
          <a:srcRect/>
          <a:stretch/>
        </p:blipFill>
        <p:spPr>
          <a:xfrm>
            <a:off x="10764981" y="6321373"/>
            <a:ext cx="1295682" cy="536627"/>
          </a:xfrm>
          <a:prstGeom prst="rect">
            <a:avLst/>
          </a:prstGeom>
          <a:noFill/>
          <a:ln>
            <a:noFill/>
          </a:ln>
        </p:spPr>
      </p:pic>
      <p:pic>
        <p:nvPicPr>
          <p:cNvPr id="119" name="Google Shape;119;p5"/>
          <p:cNvPicPr preferRelativeResize="0"/>
          <p:nvPr/>
        </p:nvPicPr>
        <p:blipFill rotWithShape="1">
          <a:blip r:embed="rId4">
            <a:alphaModFix/>
          </a:blip>
          <a:srcRect/>
          <a:stretch/>
        </p:blipFill>
        <p:spPr>
          <a:xfrm>
            <a:off x="8582891" y="6396112"/>
            <a:ext cx="1214582" cy="38714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289</Words>
  <Application>Microsoft Office PowerPoint</Application>
  <PresentationFormat>Widescreen</PresentationFormat>
  <Paragraphs>14</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Play</vt:lpstr>
      <vt:lpstr>Arial</vt:lpstr>
      <vt:lpstr>Quattrocento Sans</vt:lpstr>
      <vt:lpstr>Office Theme</vt:lpstr>
      <vt:lpstr>Citizens depend heavily on government portals for services such as land records, healthcare, and tax filings. Yet, at crucial times, they often face repeated “server down” or “try later” errors. While some outages are genuine, others create suspicion of misuse to delay or deny access. This uncertainty erodes public trust and disproportionately affects vulnerable groups who rely most on timely digital services. There is a strong need for a transparent system to monitor outages, distinguish real failures from suspicious ones, and restore confidence in digital governance. </vt:lpstr>
      <vt:lpstr>Expected Solutions: •AI-based Service Blackout Detector for transparent monitoring of government portals Continuously tracks uptime, errors, and outage durations Uses pattern analysis to distinguish genuine failures (e.g., overload, maintenance) from suspicious outages during critical periods Citizen-facing dashboard to visualize outages, flag irregularities, and promote accountability Tamper-proof records (e.g., blockchain) to ensure logs cannot be altered or erased Restores digital trust and ensures fair, inclusive access for all citizens </vt:lpstr>
      <vt:lpstr> Technical Architecture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Stanford Dsouza</dc:creator>
  <cp:lastModifiedBy>Pavan Prakash</cp:lastModifiedBy>
  <cp:revision>1</cp:revision>
  <dcterms:created xsi:type="dcterms:W3CDTF">2025-02-03T10:37:11Z</dcterms:created>
  <dcterms:modified xsi:type="dcterms:W3CDTF">2025-08-23T15:28:30Z</dcterms:modified>
</cp:coreProperties>
</file>